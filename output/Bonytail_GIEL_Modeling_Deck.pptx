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Content Placeholder 2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3246120"/>
            <a:ext cx="9144000" cy="164592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/>
          </p:nvPr>
        </p:nvSpPr>
        <p:spPr>
          <a:xfrm>
            <a:off x="548640" y="2103120"/>
            <a:ext cx="8046720" cy="640080"/>
          </a:xfrm>
        </p:spPr>
        <p:txBody>
          <a:bodyPr/>
          <a:lstStyle/>
          <a:p>
            <a:pPr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 i="0" u="none" strike="noStrike" cap="non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Bonytail (GIEL) Demographic Modeling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548640" y="2697480"/>
            <a:ext cx="8046720" cy="502920"/>
          </a:xfrm>
        </p:spPr>
        <p:txBody>
          <a:bodyPr/>
          <a:lstStyle/>
          <a:p>
            <a:pPr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E07B00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in Off-Channel Habitat (OCH)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/>
          </p:nvPr>
        </p:nvSpPr>
        <p:spPr>
          <a:xfrm>
            <a:off x="914400" y="3657600"/>
            <a:ext cx="7315200" cy="548640"/>
          </a:xfrm>
        </p:spPr>
        <p:txBody>
          <a:bodyPr/>
          <a:lstStyle/>
          <a:p>
            <a:pPr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 u="none" strike="noStrike" cap="non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What the data support, what the models can do, and how this compares to the proposed IPM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/>
          </p:nvPr>
        </p:nvSpPr>
        <p:spPr>
          <a:xfrm>
            <a:off x="914400" y="4297680"/>
            <a:ext cx="7315200" cy="365760"/>
          </a:xfrm>
        </p:spPr>
        <p:txBody>
          <a:bodyPr/>
          <a:lstStyle/>
          <a:p>
            <a:pPr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strike="noStrike" cap="non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Brian Kesner  ·  Marsh &amp; Associates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33272"/>
            <a:ext cx="8229600" cy="2743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457200" y="320040"/>
            <a:ext cx="8229600" cy="68580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strike="noStrike" cap="none">
                <a:solidFill>
                  <a:srgbClr val="1B4B5A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Why We Model Bonytail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>
          <a:xfrm>
            <a:off x="457200" y="6446520"/>
            <a:ext cx="4572000" cy="27432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6B6B6B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Bonytail (GIEL) Off-Channel Modeling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457200" y="1197864"/>
            <a:ext cx="8229600" cy="5157216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None/>
            </a:pPr>
            <a:r>
              <a:rPr sz="17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Stocked adults are the backbone of the Lower Colorado River Bonytail program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None/>
            </a:pPr>
            <a:r>
              <a:rPr sz="17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Off-channel ponds (IP2, IP5, IP6) are the only places where Bonytail persist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None/>
            </a:pPr>
            <a:r>
              <a:rPr sz="17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We need to understand:</a:t>
            </a:r>
          </a:p>
          <a:p>
            <a:pPr marL="4445" marR="0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None/>
            </a:pPr>
            <a:r>
              <a:rPr sz="17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–  Annual survival</a:t>
            </a:r>
          </a:p>
          <a:p>
            <a:pPr marL="4445" marR="0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None/>
            </a:pPr>
            <a:r>
              <a:rPr sz="17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–  Die-offs</a:t>
            </a:r>
          </a:p>
          <a:p>
            <a:pPr marL="4445" marR="0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None/>
            </a:pPr>
            <a:r>
              <a:rPr sz="17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–  Recruitment</a:t>
            </a:r>
          </a:p>
          <a:p>
            <a:pPr marL="4445" marR="0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None/>
            </a:pPr>
            <a:r>
              <a:rPr sz="17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–  Differences among ponds</a:t>
            </a:r>
          </a:p>
          <a:p>
            <a:pPr marL="4445" marR="0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None/>
            </a:pPr>
            <a:r>
              <a:rPr sz="17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–  Whether environmental or origin effects matter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33272"/>
            <a:ext cx="8229600" cy="2743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457200" y="320040"/>
            <a:ext cx="8229600" cy="68580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strike="noStrike" cap="none">
                <a:solidFill>
                  <a:srgbClr val="1B4B5A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What Data We Actually Have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>
          <a:xfrm>
            <a:off x="457200" y="6446520"/>
            <a:ext cx="4572000" cy="27432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6B6B6B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Bonytail (GIEL) Off-Channel Modeling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457200" y="1197864"/>
            <a:ext cx="8229600" cy="5157216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None/>
            </a:pPr>
            <a:r>
              <a:rPr sz="17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PIT-tag detections (continuous scanning)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None/>
            </a:pPr>
            <a:r>
              <a:rPr sz="17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Netting captures (episodic)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None/>
            </a:pPr>
            <a:r>
              <a:rPr sz="17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Stocking records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None/>
            </a:pPr>
            <a:r>
              <a:rPr sz="17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Known die-off windows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None/>
            </a:pPr>
            <a:r>
              <a:rPr sz="17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Sparse juvenile recruitment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None/>
            </a:pPr>
            <a:r>
              <a:rPr sz="17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No environmental covariates currently collected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None/>
            </a:pPr>
            <a:r>
              <a:rPr sz="17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No parentage data integrated for GIEL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None/>
            </a:pPr>
            <a:r>
              <a:rPr sz="17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Key point: the data are real, but thin and uneven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33272"/>
            <a:ext cx="8229600" cy="2743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457200" y="320040"/>
            <a:ext cx="8229600" cy="68580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strike="noStrike" cap="none">
                <a:solidFill>
                  <a:srgbClr val="1B4B5A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What a Bayesian Model Does (Plain Language)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>
          <a:xfrm>
            <a:off x="457200" y="6446520"/>
            <a:ext cx="4572000" cy="27432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6B6B6B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Bonytail (GIEL) Off-Channel Modeling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457200" y="1197864"/>
            <a:ext cx="8229600" cy="5157216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0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Think of it as a smart averaging machine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0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It tries millions of possible “worlds”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0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Keeps the ones that match the data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0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Produces ranges of plausible survival values, not single numbers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0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Handles uncertainty gracefully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0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Perfect for noisy ecological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33272"/>
            <a:ext cx="8229600" cy="2743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457200" y="320040"/>
            <a:ext cx="8229600" cy="68580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strike="noStrike" cap="none">
                <a:solidFill>
                  <a:srgbClr val="1B4B5A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Why NIMBLE / Robust Design Works Well Here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>
          <a:xfrm>
            <a:off x="457200" y="6446520"/>
            <a:ext cx="4572000" cy="27432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6B6B6B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Bonytail (GIEL) Off-Channel Modeling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457200" y="1197864"/>
            <a:ext cx="8229600" cy="5157216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0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Tracks every fish across months and years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0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Uses both PIT scanning and netting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0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Enforces biological rules (fish can’t reappear after dying)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0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Handles missing detections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0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Allows explicit die-off windows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0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Simple enough to match the data; flexible enough to capture real events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33272"/>
            <a:ext cx="8229600" cy="2743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457200" y="320040"/>
            <a:ext cx="8229600" cy="68580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strike="noStrike" cap="none">
                <a:solidFill>
                  <a:srgbClr val="1B4B5A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What the Data Show About Bonytail Survival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>
          <a:xfrm>
            <a:off x="457200" y="6446520"/>
            <a:ext cx="4572000" cy="27432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6B6B6B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Bonytail (GIEL) Off-Channel Modeling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457200" y="1197864"/>
            <a:ext cx="3840480" cy="5157216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Three ponds, three stories:</a:t>
            </a:r>
          </a:p>
          <a:p>
            <a:pPr marL="4445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–  IP6: stable survival, no die-offs</a:t>
            </a:r>
          </a:p>
          <a:p>
            <a:pPr marL="4445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–  IP5: catastrophic die-off in 2020</a:t>
            </a:r>
          </a:p>
          <a:p>
            <a:pPr marL="4445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–  IP2: catastrophic die-off in 2022, plus chronically low survival in other years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Takeaway: survival is dominated by discrete events, not smooth trends</a:t>
            </a:r>
          </a:p>
        </p:txBody>
      </p:sp>
      <p:pic>
        <p:nvPicPr>
          <p:cNvPr id="6" name="Content Placeholder 5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4663440" y="2435352"/>
            <a:ext cx="4023360" cy="2682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33272"/>
            <a:ext cx="8229600" cy="2743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457200" y="320040"/>
            <a:ext cx="8229600" cy="68580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strike="noStrike" cap="none">
                <a:solidFill>
                  <a:srgbClr val="1B4B5A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Die-Offs Are Real and Well-Defined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>
          <a:xfrm>
            <a:off x="457200" y="6446520"/>
            <a:ext cx="4572000" cy="27432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6B6B6B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Bonytail (GIEL) Off-Channel Modeling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457200" y="1197864"/>
            <a:ext cx="8229600" cy="5157216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IP5: January–September 2020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IP2: January–July 2022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Both documented as pump failures (operational, not environmental)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PIT scanning confirms these are true mortality events, not detection gaps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33272"/>
            <a:ext cx="8229600" cy="2743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457200" y="320040"/>
            <a:ext cx="8229600" cy="68580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strike="noStrike" cap="none">
                <a:solidFill>
                  <a:srgbClr val="1B4B5A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Why We Use Explicit Event Terms (dE)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>
          <a:xfrm>
            <a:off x="457200" y="6446520"/>
            <a:ext cx="4572000" cy="27432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6B6B6B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Bonytail (GIEL) Off-Channel Modeling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457200" y="1197864"/>
            <a:ext cx="8229600" cy="5157216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They directly represent known die-off windows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They allow survival to drop sharply only during the event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They match the biology and the monitoring record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They outperform diffuse “year random effects” when events span most of a season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33272"/>
            <a:ext cx="8229600" cy="2743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457200" y="320040"/>
            <a:ext cx="8229600" cy="68580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strike="noStrike" cap="none">
                <a:solidFill>
                  <a:srgbClr val="1B4B5A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Partial-Season Events Are Harder to Capture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>
          <a:xfrm>
            <a:off x="457200" y="6446520"/>
            <a:ext cx="4572000" cy="27432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6B6B6B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Bonytail (GIEL) Off-Channel Modeling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457200" y="1197864"/>
            <a:ext cx="3931920" cy="5157216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IP5 FY2020: 9 months → model matches floor almost perfectly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IP2 FY2022: 7 months → model under-corrects (survival too high)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Same pattern seen in Razorback Sucker (IP1 FY2022)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Takeaway: partial-season crashes are structurally hard for any model</a:t>
            </a:r>
          </a:p>
        </p:txBody>
      </p:sp>
      <p:pic>
        <p:nvPicPr>
          <p:cNvPr id="6" name="Content Placeholder 5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4754880" y="2247392"/>
            <a:ext cx="3931920" cy="3058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33272"/>
            <a:ext cx="8229600" cy="2743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457200" y="320040"/>
            <a:ext cx="8229600" cy="68580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strike="noStrike" cap="none">
                <a:solidFill>
                  <a:srgbClr val="1B4B5A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Size Structure: Only One Break Supported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>
          <a:xfrm>
            <a:off x="457200" y="6446520"/>
            <a:ext cx="4572000" cy="27432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6B6B6B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Bonytail (GIEL) Off-Channel Modeling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457200" y="1197864"/>
            <a:ext cx="3657600" cy="5157216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Juveniles &lt;250 mm survive poorly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Juveniles ≥250 mm survive much better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No difference between 250–349 mm and ≥350 mm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Data support 2 stages, not 3–4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Takeaway: the proposed IPM’s multi-stage structure is not identifiable</a:t>
            </a:r>
          </a:p>
        </p:txBody>
      </p:sp>
      <p:pic>
        <p:nvPicPr>
          <p:cNvPr id="6" name="Content Placeholder 5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4480560" y="2374392"/>
            <a:ext cx="4206240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33272"/>
            <a:ext cx="8229600" cy="2743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395536" y="320040"/>
            <a:ext cx="8748464" cy="68580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strike="noStrike" cap="none" dirty="0">
                <a:solidFill>
                  <a:srgbClr val="1B4B5A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Recruit Density: Too Sparse for Density-Dependent Modeling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>
          <a:xfrm>
            <a:off x="457200" y="6446520"/>
            <a:ext cx="4572000" cy="27432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6B6B6B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Bonytail (GIEL) Off-Channel Modeling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457200" y="1197864"/>
            <a:ext cx="3657600" cy="5157216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Most pond-seasons: zero recruits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One outlier: 24 per acre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No continuous gradient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No slope to estimate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Takeaway: density-dependent survival/growth is not supported</a:t>
            </a:r>
          </a:p>
        </p:txBody>
      </p:sp>
      <p:pic>
        <p:nvPicPr>
          <p:cNvPr id="6" name="Content Placeholder 5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4480560" y="2593467"/>
            <a:ext cx="4206240" cy="23660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33272"/>
            <a:ext cx="8229600" cy="2743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457200" y="320040"/>
            <a:ext cx="8229600" cy="68580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strike="noStrike" cap="none">
                <a:solidFill>
                  <a:srgbClr val="1B4B5A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Empirical Survival Swings Widely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>
          <a:xfrm>
            <a:off x="457200" y="6446520"/>
            <a:ext cx="4572000" cy="27432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6B6B6B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Bonytail (GIEL) Off-Channel Modeling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457200" y="1197864"/>
            <a:ext cx="3931920" cy="5157216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Non-event seasons range from 5% to 92% survival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No smooth pattern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No environmental gradient visible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A single covariate slope cannot explain this variation</a:t>
            </a:r>
          </a:p>
        </p:txBody>
      </p:sp>
      <p:pic>
        <p:nvPicPr>
          <p:cNvPr id="6" name="Content Placeholder 5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4754880" y="2247392"/>
            <a:ext cx="3931920" cy="30581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33272"/>
            <a:ext cx="8229600" cy="2743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457200" y="320040"/>
            <a:ext cx="8229600" cy="68580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strike="noStrike" cap="none">
                <a:solidFill>
                  <a:srgbClr val="1B4B5A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Origin-Based Survival: Possible, But Not Yet Modeled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>
          <a:xfrm>
            <a:off x="457200" y="6446520"/>
            <a:ext cx="4572000" cy="27432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6B6B6B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Bonytail (GIEL) Off-Channel Modeling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457200" y="1197864"/>
            <a:ext cx="3657600" cy="5157216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Plenty of wild-tagged fish to test stocked vs. wild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But current model architecture does not include origin effects on adult survival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Would require a model extension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Should be tested cautiously given sparse non-event data</a:t>
            </a:r>
          </a:p>
        </p:txBody>
      </p:sp>
      <p:pic>
        <p:nvPicPr>
          <p:cNvPr id="6" name="Content Placeholder 5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4480560" y="2482244"/>
            <a:ext cx="4206240" cy="25884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33272"/>
            <a:ext cx="8229600" cy="2743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457200" y="320040"/>
            <a:ext cx="8229600" cy="68580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strike="noStrike" cap="none">
                <a:solidFill>
                  <a:srgbClr val="1B4B5A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What the Proposed IPM Assumes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>
          <a:xfrm>
            <a:off x="457200" y="6446520"/>
            <a:ext cx="4572000" cy="27432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6B6B6B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Bonytail (GIEL) Off-Channel Modeling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457200" y="1197864"/>
            <a:ext cx="8229600" cy="5157216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None/>
            </a:pPr>
            <a:r>
              <a:rPr sz="17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The proposed IPM includes:</a:t>
            </a:r>
          </a:p>
          <a:p>
            <a:pPr marL="4445" marR="0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None/>
            </a:pPr>
            <a:r>
              <a:rPr sz="17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–  4 life stages</a:t>
            </a:r>
          </a:p>
          <a:p>
            <a:pPr marL="4445" marR="0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None/>
            </a:pPr>
            <a:r>
              <a:rPr sz="17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–  Environmental covariates on adult survival and reproduction</a:t>
            </a:r>
          </a:p>
          <a:p>
            <a:pPr marL="4445" marR="0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None/>
            </a:pPr>
            <a:r>
              <a:rPr sz="17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–  Release/habitat covariates on post-stocking survival</a:t>
            </a:r>
          </a:p>
          <a:p>
            <a:pPr marL="4445" marR="0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None/>
            </a:pPr>
            <a:r>
              <a:rPr sz="17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–  Origin-based survival splits</a:t>
            </a:r>
          </a:p>
          <a:p>
            <a:pPr marL="4445" marR="0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None/>
            </a:pPr>
            <a:r>
              <a:rPr sz="17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–  Parentage-based reproduction</a:t>
            </a:r>
          </a:p>
          <a:p>
            <a:pPr marL="4445" marR="0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None/>
            </a:pPr>
            <a:r>
              <a:rPr sz="17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–  Year random effects absorbing die-offs</a:t>
            </a:r>
          </a:p>
          <a:p>
            <a:pPr marL="4445" marR="0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None/>
            </a:pPr>
            <a:r>
              <a:rPr sz="17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–  Shared covariate slopes across ponds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None/>
            </a:pPr>
            <a:r>
              <a:rPr sz="17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Takeaway: it assumes rich, continuous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33272"/>
            <a:ext cx="8229600" cy="2743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457200" y="320040"/>
            <a:ext cx="8229600" cy="68580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strike="noStrike" cap="none">
                <a:solidFill>
                  <a:srgbClr val="1B4B5A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Why the Proposed IPM Doesn’t Fit the 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>
          <a:xfrm>
            <a:off x="457200" y="6446520"/>
            <a:ext cx="4572000" cy="27432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6B6B6B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Bonytail (GIEL) Off-Channel Modeling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457200" y="1197864"/>
            <a:ext cx="8229600" cy="5157216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None/>
            </a:pPr>
            <a:r>
              <a:rPr sz="17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Data support 2 stages, not 4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None/>
            </a:pPr>
            <a:r>
              <a:rPr sz="17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Survival is driven by discrete die-offs, not environmental gradients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None/>
            </a:pPr>
            <a:r>
              <a:rPr sz="17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Recruit density is too sparse for density-dependent terms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None/>
            </a:pPr>
            <a:r>
              <a:rPr sz="17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Non-event survival swings wildly with no pattern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None/>
            </a:pPr>
            <a:r>
              <a:rPr sz="17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Partial-season die-offs are under-corrected by year random effects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None/>
            </a:pPr>
            <a:r>
              <a:rPr sz="17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Parentage data not integrated for GIEL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None/>
            </a:pPr>
            <a:r>
              <a:rPr sz="17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Environmental covariates not collected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None/>
            </a:pPr>
            <a:r>
              <a:rPr sz="17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Open-water survival cannot be modeled reliably (Havasu precedent)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33272"/>
            <a:ext cx="8229600" cy="2743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457200" y="320040"/>
            <a:ext cx="8229600" cy="68580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strike="noStrike" cap="none">
                <a:solidFill>
                  <a:srgbClr val="1B4B5A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Havasu Study: A Reality Check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>
          <a:xfrm>
            <a:off x="457200" y="6446520"/>
            <a:ext cx="4572000" cy="27432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6B6B6B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Bonytail (GIEL) Off-Channel Modeling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457200" y="1197864"/>
            <a:ext cx="8229600" cy="5157216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Telemetry + PIT scanning attempted to model open-water survival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Result: survival and detection estimates “nearly 0 to 1”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Even time-varying CJS/Barker models failed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Shows that even rich data struggle to identify survival curves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Takeaway: routine OCH data cannot support the proposed IPM’s complexity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33272"/>
            <a:ext cx="8229600" cy="2743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457200" y="320040"/>
            <a:ext cx="8229600" cy="68580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strike="noStrike" cap="none">
                <a:solidFill>
                  <a:srgbClr val="1B4B5A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What the Current Model Gets Right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>
          <a:xfrm>
            <a:off x="457200" y="6446520"/>
            <a:ext cx="4572000" cy="27432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6B6B6B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Bonytail (GIEL) Off-Channel Modeling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457200" y="1197864"/>
            <a:ext cx="8229600" cy="5157216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0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Correct stage structure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0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Correct die-off representation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0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Correct handling of sparse recruitment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0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Correct separation of ponds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0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Correct identification of catastrophic events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0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Correct survival estimates for stable ponds (IP6)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0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Correct survival estimates for full-season crashes (IP5 FY2020)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33272"/>
            <a:ext cx="8229600" cy="2743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457200" y="320040"/>
            <a:ext cx="8229600" cy="68580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strike="noStrike" cap="none">
                <a:solidFill>
                  <a:srgbClr val="1B4B5A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What Needs Further Investigation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>
          <a:xfrm>
            <a:off x="457200" y="6446520"/>
            <a:ext cx="4572000" cy="27432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6B6B6B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Bonytail (GIEL) Off-Channel Modeling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457200" y="1197864"/>
            <a:ext cx="8229600" cy="5157216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IP2’s chronically low survival outside the 2022 crash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Whether IP2 has additional unflagged mortality episodes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Whether origin-based survival splits are identifiable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Whether partial-season die-offs need pond-season-specific dE terms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33272"/>
            <a:ext cx="8229600" cy="2743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457200" y="320040"/>
            <a:ext cx="8229600" cy="68580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strike="noStrike" cap="none">
                <a:solidFill>
                  <a:srgbClr val="1B4B5A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Bottom 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>
          <a:xfrm>
            <a:off x="457200" y="6446520"/>
            <a:ext cx="4572000" cy="27432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6B6B6B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Bonytail (GIEL) Off-Channel Modeling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457200" y="1197864"/>
            <a:ext cx="8229600" cy="5157216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The proposed IPM is biologically rich but structurally ahead of the data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The current 2-stage robust-design model is better matched to what the data can support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The highest-value next steps are pond-specific investigations, not adding covariate layers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70"/>
              </a:spcAft>
              <a:buNone/>
            </a:pPr>
            <a:r>
              <a:rPr sz="22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A future IPM could be possible only if new data streams are added (environmental, parentage)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33272"/>
            <a:ext cx="8229600" cy="2743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457200" y="320040"/>
            <a:ext cx="8229600" cy="68580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strike="noStrike" cap="none">
                <a:solidFill>
                  <a:srgbClr val="1B4B5A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Next Steps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>
          <a:xfrm>
            <a:off x="457200" y="6446520"/>
            <a:ext cx="4572000" cy="274320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trike="noStrike" cap="none">
                <a:solidFill>
                  <a:srgbClr val="6B6B6B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Bonytail (GIEL) Off-Channel Modeling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457200" y="1197864"/>
            <a:ext cx="8229600" cy="5157216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0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Investigate IP2 for additional mortality episodes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0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Consider pond-season-specific event terms for partial-season crashes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0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Explore adding origin effects to adult survival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0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Evaluate feasibility of collecting environmental covariates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0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Assess availability of GIEL parentage data from UNM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000" b="0" i="0" u="none" strike="noStrike" cap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•  Maintain the robust-design model as the operational tool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Content Placeholder 2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0" y="3108960"/>
            <a:ext cx="9144000" cy="164592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/>
          </p:nvPr>
        </p:nvSpPr>
        <p:spPr>
          <a:xfrm>
            <a:off x="548640" y="2286000"/>
            <a:ext cx="8046720" cy="731520"/>
          </a:xfrm>
        </p:spPr>
        <p:txBody>
          <a:bodyPr/>
          <a:lstStyle/>
          <a:p>
            <a:pPr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 i="0" u="none" strike="noStrike" cap="non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Questions &amp; Discussion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548640" y="3429000"/>
            <a:ext cx="8046720" cy="365760"/>
          </a:xfrm>
        </p:spPr>
        <p:txBody>
          <a:bodyPr/>
          <a:lstStyle/>
          <a:p>
            <a:pPr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E07B00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Marsh &amp; Associates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1159</Words>
  <Application>Microsoft Office PowerPoint</Application>
  <PresentationFormat>On-screen Show (4:3)</PresentationFormat>
  <Paragraphs>150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Brian Kesner</cp:lastModifiedBy>
  <cp:revision>4</cp:revision>
  <dcterms:created xsi:type="dcterms:W3CDTF">2017-02-13T16:18:36Z</dcterms:created>
  <dcterms:modified xsi:type="dcterms:W3CDTF">2026-09-10T23:15:55Z</dcterms:modified>
  <cp:category/>
</cp:coreProperties>
</file>